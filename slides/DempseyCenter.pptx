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72706915f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972706915f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972706915f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C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2706915f_2_2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g3972706915f_2_2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972706915f_2_2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2706915f_2_4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972706915f_2_4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972706915f_2_4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72706915f_2_5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972706915f_2_5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972706915f_2_5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2706915f_2_8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3972706915f_2_8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972706915f_2_8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72706915f_2_10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972706915f_2_10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972706915f_2_10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2706915f_2_12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972706915f_2_12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72706915f_2_12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72706915f_2_16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972706915f_2_16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972706915f_2_16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72706915f_2_17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972706915f_2_17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972706915f_2_17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72706915f_2_19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972706915f_2_19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972706915f_2_19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72706915f_2_24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972706915f_2_24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972706915f_2_24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72725510e_3_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g3972725510e_3_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972725510e_3_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72706915f_2_26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3972706915f_2_26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972706915f_2_26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5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50876" cy="514350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995160" y="-1234440"/>
            <a:ext cx="2880360" cy="2880360"/>
          </a:xfrm>
          <a:prstGeom prst="ellipse">
            <a:avLst/>
          </a:prstGeom>
          <a:solidFill>
            <a:srgbClr val="9BDAD9">
              <a:alpha val="16862"/>
            </a:srgbClr>
          </a:solidFill>
          <a:ln cap="flat" cmpd="sng" w="12700">
            <a:solidFill>
              <a:srgbClr val="9BDAD9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-685800" y="3566160"/>
            <a:ext cx="2400300" cy="2400300"/>
          </a:xfrm>
          <a:prstGeom prst="ellipse">
            <a:avLst/>
          </a:prstGeom>
          <a:solidFill>
            <a:srgbClr val="9BDAD9">
              <a:alpha val="12156"/>
            </a:srgbClr>
          </a:solidFill>
          <a:ln cap="flat" cmpd="sng" w="12700">
            <a:solidFill>
              <a:srgbClr val="9BDAD9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45770" y="720080"/>
            <a:ext cx="68580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libri"/>
              <a:buNone/>
            </a:pPr>
            <a:r>
              <a:rPr b="1" i="0" lang="zh-CN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Behind the 95%: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45770" y="1508760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2000"/>
              <a:buFont typeface="Calibri"/>
              <a:buNone/>
            </a:pPr>
            <a:r>
              <a:rPr b="0" i="0" lang="zh-CN" sz="2000" u="none" cap="none" strike="noStrike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Who Is the Dempsey Center Really Reaching?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45770" y="2160270"/>
            <a:ext cx="6515100" cy="34290"/>
          </a:xfrm>
          <a:prstGeom prst="rect">
            <a:avLst/>
          </a:prstGeom>
          <a:solidFill>
            <a:srgbClr val="9BDAD9">
              <a:alpha val="54901"/>
            </a:srgbClr>
          </a:solidFill>
          <a:ln cap="flat" cmpd="sng" w="12700">
            <a:solidFill>
              <a:srgbClr val="9BDAD9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45770" y="2318004"/>
            <a:ext cx="72009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BFD8"/>
              </a:buClr>
              <a:buSzPts val="1100"/>
              <a:buFont typeface="Calibri"/>
              <a:buNone/>
            </a:pPr>
            <a:r>
              <a:rPr b="0" i="0" lang="zh-CN" sz="1100" u="none" cap="none" strike="noStrike">
                <a:solidFill>
                  <a:srgbClr val="8BBFD8"/>
                </a:solidFill>
                <a:latin typeface="Calibri"/>
                <a:ea typeface="Calibri"/>
                <a:cs typeface="Calibri"/>
                <a:sym typeface="Calibri"/>
              </a:rPr>
              <a:t>Dempsey Center Annual Client Survey  ·  2022–2025  ·  n = 1,179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45770" y="2619756"/>
            <a:ext cx="72009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000"/>
              <a:buFont typeface="Calibri"/>
              <a:buNone/>
            </a:pPr>
            <a:r>
              <a:rPr b="0" i="0" lang="zh-CN" sz="1000" u="none" cap="none" strike="noStrike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CS5</a:t>
            </a:r>
            <a:r>
              <a:rPr lang="zh-CN" sz="1000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zh-CN" sz="1000" u="none" cap="none" strike="noStrike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00 Foundation of AI  ·  Northeastern University -Yuchen Kuang</a:t>
            </a:r>
            <a:r>
              <a:rPr lang="zh-CN" sz="1000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, Lingyun Chen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45770" y="3737610"/>
            <a:ext cx="2057400" cy="1131570"/>
          </a:xfrm>
          <a:prstGeom prst="rect">
            <a:avLst/>
          </a:prstGeom>
          <a:solidFill>
            <a:srgbClr val="9BDAD9">
              <a:alpha val="18039"/>
            </a:srgbClr>
          </a:solidFill>
          <a:ln cap="flat" cmpd="sng" w="12700">
            <a:solidFill>
              <a:srgbClr val="9BDA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14350" y="3785616"/>
            <a:ext cx="19202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zh-CN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1,179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514350" y="4320540"/>
            <a:ext cx="192024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900"/>
              <a:buFont typeface="Calibri"/>
              <a:buNone/>
            </a:pPr>
            <a:r>
              <a:rPr b="0" i="0" lang="zh-CN" sz="900" u="none" cap="none" strike="noStrike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Respondents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2708910" y="3737610"/>
            <a:ext cx="2057400" cy="1131570"/>
          </a:xfrm>
          <a:prstGeom prst="rect">
            <a:avLst/>
          </a:prstGeom>
          <a:solidFill>
            <a:srgbClr val="9BDAD9">
              <a:alpha val="18039"/>
            </a:srgbClr>
          </a:solidFill>
          <a:ln cap="flat" cmpd="sng" w="12700">
            <a:solidFill>
              <a:srgbClr val="9BDA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2777490" y="3785616"/>
            <a:ext cx="19202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zh-CN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777490" y="4320540"/>
            <a:ext cx="192024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900"/>
              <a:buFont typeface="Calibri"/>
              <a:buNone/>
            </a:pPr>
            <a:r>
              <a:rPr b="0" i="0" lang="zh-CN" sz="900" u="none" cap="none" strike="noStrike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Survey Years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972050" y="3737610"/>
            <a:ext cx="2057400" cy="1131570"/>
          </a:xfrm>
          <a:prstGeom prst="rect">
            <a:avLst/>
          </a:prstGeom>
          <a:solidFill>
            <a:srgbClr val="9BDAD9">
              <a:alpha val="18039"/>
            </a:srgbClr>
          </a:solidFill>
          <a:ln cap="flat" cmpd="sng" w="12700">
            <a:solidFill>
              <a:srgbClr val="9BDA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040630" y="3785616"/>
            <a:ext cx="19202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zh-CN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040630" y="4320540"/>
            <a:ext cx="192024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900"/>
              <a:buFont typeface="Calibri"/>
              <a:buNone/>
            </a:pPr>
            <a:r>
              <a:rPr b="0" i="0" lang="zh-CN" sz="900" u="none" cap="none" strike="noStrike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Cell Analyses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ogo with white text&#10;&#10;AI-generated content may be incorrect."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3770" y="238549"/>
            <a:ext cx="1552956" cy="1098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CENTER IS PERFORMING — BUT IS IT PERFORMING FOR EVERYONE?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74320" y="822960"/>
            <a:ext cx="2640330" cy="137160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342900" y="877824"/>
            <a:ext cx="25031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zh-CN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90.3%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42900" y="1536192"/>
            <a:ext cx="25031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Satisfaction 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42900" y="1783080"/>
            <a:ext cx="25031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Satisfied or Very Satisfied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120390" y="822960"/>
            <a:ext cx="2640330" cy="13716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188970" y="877824"/>
            <a:ext cx="25031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zh-CN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95.3%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188970" y="1536192"/>
            <a:ext cx="25031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Life Better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188970" y="1783080"/>
            <a:ext cx="25031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Say their life improved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120765" y="822960"/>
            <a:ext cx="2640330" cy="1371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035040" y="877824"/>
            <a:ext cx="25031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zh-CN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035040" y="1536192"/>
            <a:ext cx="25031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 Promoter Score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035040" y="1783080"/>
            <a:ext cx="25031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Above 80 = world-class threshold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297430"/>
            <a:ext cx="281178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4680" y="2297430"/>
            <a:ext cx="281178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5040" y="2297430"/>
            <a:ext cx="281178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white text&#10;&#10;AI-generated content may be incorrect." id="98" name="Google Shape;9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5674" y="74906"/>
            <a:ext cx="969726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ARE THE CLIENTS?  ·  n = 1,179 across 4 years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mographics.png"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86" y="774954"/>
            <a:ext cx="9088341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205740" y="4011930"/>
            <a:ext cx="8709660" cy="96012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411480" y="4059936"/>
            <a:ext cx="8229600" cy="836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Key Trend:  </a:t>
            </a:r>
            <a:r>
              <a:rPr lang="zh-C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75+ age group nearly doubled — 14% in 2022 to 26% in 2025. Transportation barriers grew 3% → 11.6% in the same period. These are the same problem.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ANALYTICAL APPROACH  ·  All methods trained on all 4 years (n = 1,179)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274320" y="85725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11480" y="1117854"/>
            <a:ext cx="493776" cy="493776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11480" y="111785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zh-C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028700" y="1008126"/>
            <a:ext cx="32918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Correlation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028700" y="1364742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Which variables move together? Reveals relationships between frequency, satisfaction, service use, and life outcomes.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697730" y="85725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4834890" y="1117854"/>
            <a:ext cx="493776" cy="493776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834890" y="111785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zh-C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452110" y="1008126"/>
            <a:ext cx="32918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452110" y="1364742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Which factors best predict high satisfaction? Trained on all 4 years. Provides ranked feature importance scores.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74320" y="281178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11480" y="3072384"/>
            <a:ext cx="493776" cy="493776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411480" y="307238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zh-C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1028700" y="2962656"/>
            <a:ext cx="32918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K-Means Clustering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1028700" y="3319272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Segment clients by behavior and outcomes — reveals groups hidden by overall averages. Used k=3 based on elbow curve.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697730" y="281178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4834890" y="3072384"/>
            <a:ext cx="493776" cy="493776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4834890" y="307238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zh-C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452110" y="2962656"/>
            <a:ext cx="32918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Chi-Square Tests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452110" y="3319272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Statistically verify Decision Tree findings. Confirms whether associations are real or noise. Threshold: p &lt; 0.05.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1  ·  VISIT FREQUENCY IS THE STRONGEST PREDICTOR OF SATISFACTION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432054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730" y="822960"/>
            <a:ext cx="41833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4697730" y="2743200"/>
            <a:ext cx="1988820" cy="126873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4766310" y="2811780"/>
            <a:ext cx="185166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800"/>
              <a:buFont typeface="Calibri"/>
              <a:buNone/>
            </a:pPr>
            <a:r>
              <a:rPr b="1" lang="zh-CN" sz="8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Chi-Square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766310" y="3051810"/>
            <a:ext cx="18516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zh-C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&lt; 0.001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766310" y="3483864"/>
            <a:ext cx="18516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Statistically significant — all 4 years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823710" y="2743200"/>
            <a:ext cx="1988820" cy="126873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6892290" y="2811780"/>
            <a:ext cx="185166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800"/>
              <a:buFont typeface="Calibri"/>
              <a:buNone/>
            </a:pPr>
            <a:r>
              <a:rPr b="1" lang="zh-CN" sz="8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22-point gap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892290" y="3051810"/>
            <a:ext cx="18516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zh-C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71.9% → 94.2%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892290" y="3483864"/>
            <a:ext cx="18516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1-time visitors vs. 10+ visits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274320" y="4046220"/>
            <a:ext cx="8606790" cy="925830"/>
          </a:xfrm>
          <a:prstGeom prst="rect">
            <a:avLst/>
          </a:prstGeom>
          <a:solidFill>
            <a:srgbClr val="DBF1F0"/>
          </a:solidFill>
          <a:ln cap="flat" cmpd="sng" w="15225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445770" y="4094226"/>
            <a:ext cx="8298180" cy="809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000"/>
              <a:buFont typeface="Calibri"/>
              <a:buNone/>
            </a:pPr>
            <a:r>
              <a:rPr lang="zh-CN" sz="10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Visit Frequency is the ONLY factor validated by both machine learning (#1 feature importance, 0.486) AND statistical testing (p &lt; 0.001). No other variable survives both tests.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2  ·  DEMOGRAPHICS DO NOT PREDICT SATISFACTION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4937760" cy="28117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5383530" y="822960"/>
            <a:ext cx="3497580" cy="168021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520690" y="891540"/>
            <a:ext cx="32232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Cancer Role × Satisfaction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520690" y="1165860"/>
            <a:ext cx="32232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libri"/>
              <a:buNone/>
            </a:pPr>
            <a:r>
              <a:rPr b="1" lang="zh-CN" sz="3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= 0.28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520690" y="1817370"/>
            <a:ext cx="322326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Not significant — even with n = 1,179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383530" y="2606040"/>
            <a:ext cx="3497580" cy="113157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5520690" y="2674620"/>
            <a:ext cx="32232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Visit Frequency × Satisfaction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520690" y="2928366"/>
            <a:ext cx="32232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lang="zh-CN" sz="2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&lt; 0.001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520690" y="3415284"/>
            <a:ext cx="322326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Statistically significant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74320" y="3771900"/>
            <a:ext cx="8606790" cy="1200150"/>
          </a:xfrm>
          <a:prstGeom prst="rect">
            <a:avLst/>
          </a:prstGeom>
          <a:solidFill>
            <a:srgbClr val="DBF1F0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44577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Implication: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45770" y="411480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Center serves current patients, survivors, and caregivers at comparable quality. Improving satisfaction does not require demographic targeting — it requires strategies to increase repeat visits across all groups.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3  ·  THREE DISTINCT CLIENT SEGMENTS  (K-Means, k=3, all 4 years)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00634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5417820" y="822960"/>
            <a:ext cx="1097280" cy="30861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465826" y="89154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zh-C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465826" y="1165860"/>
            <a:ext cx="100126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i="1"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High Engagement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465826" y="1412748"/>
            <a:ext cx="1001268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n = 365 (31%)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520690" y="1714500"/>
            <a:ext cx="891540" cy="20574"/>
          </a:xfrm>
          <a:prstGeom prst="rect">
            <a:avLst/>
          </a:prstGeom>
          <a:solidFill>
            <a:srgbClr val="9BDAD9">
              <a:alpha val="45098"/>
            </a:srgbClr>
          </a:solidFill>
          <a:ln cap="flat" cmpd="sng" w="12700">
            <a:solidFill>
              <a:srgbClr val="9BDAD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465826" y="1796796"/>
            <a:ext cx="10012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Sat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465826" y="198882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4.72/5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465826" y="2276856"/>
            <a:ext cx="10012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Life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465826" y="246888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465826" y="3086100"/>
            <a:ext cx="1001268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i="1"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Loyal therapy users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624828" y="822960"/>
            <a:ext cx="1097280" cy="308610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6672834" y="89154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zh-C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672834" y="1165860"/>
            <a:ext cx="100126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i="1"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Moderate Engagement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672834" y="1412748"/>
            <a:ext cx="1001268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n = 760 (64%)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727698" y="1714500"/>
            <a:ext cx="891540" cy="20574"/>
          </a:xfrm>
          <a:prstGeom prst="rect">
            <a:avLst/>
          </a:prstGeom>
          <a:solidFill>
            <a:srgbClr val="9BDAD9">
              <a:alpha val="45098"/>
            </a:srgbClr>
          </a:solidFill>
          <a:ln cap="flat" cmpd="sng" w="12700">
            <a:solidFill>
              <a:srgbClr val="9BDAD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6672834" y="1796796"/>
            <a:ext cx="10012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Sat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672834" y="198882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4.53/5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672834" y="2276856"/>
            <a:ext cx="10012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Life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672834" y="246888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672834" y="3086100"/>
            <a:ext cx="1001268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i="1"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Counseling + fitness focus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7831836" y="822960"/>
            <a:ext cx="1097280" cy="30861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7879842" y="89154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zh-C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7879842" y="1165860"/>
            <a:ext cx="100126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i="1"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Low Benefit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879842" y="1412748"/>
            <a:ext cx="1001268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n = 54 (5%)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934706" y="1714500"/>
            <a:ext cx="891540" cy="20574"/>
          </a:xfrm>
          <a:prstGeom prst="rect">
            <a:avLst/>
          </a:prstGeom>
          <a:solidFill>
            <a:srgbClr val="9BDAD9">
              <a:alpha val="45098"/>
            </a:srgbClr>
          </a:solidFill>
          <a:ln cap="flat" cmpd="sng" w="12700">
            <a:solidFill>
              <a:srgbClr val="9BDAD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7879842" y="1796796"/>
            <a:ext cx="10012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Sat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7879842" y="198882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2.81/5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879842" y="2276856"/>
            <a:ext cx="10012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Life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879842" y="2468880"/>
            <a:ext cx="100126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879842" y="3086100"/>
            <a:ext cx="1001268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700"/>
              <a:buFont typeface="Calibri"/>
              <a:buNone/>
            </a:pPr>
            <a:r>
              <a:rPr i="1" lang="zh-CN" sz="7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⚠ Priority intervention group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74320" y="4032504"/>
            <a:ext cx="8606790" cy="946404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445770" y="4080510"/>
            <a:ext cx="8229600" cy="836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Cluster 2 is the priority:  </a:t>
            </a:r>
            <a:r>
              <a:rPr lang="zh-C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54 clients (4.6% of respondents) with only 4% Life Better rate. Averages cannot reveal this group — clustering can. These clients need direct outreach.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 4  ·  TWO TRENDS THAT NEED ATTENTION NOW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2"/>
          <p:cNvCxnSpPr/>
          <p:nvPr/>
        </p:nvCxnSpPr>
        <p:spPr>
          <a:xfrm>
            <a:off x="4629150" y="788670"/>
            <a:ext cx="0" cy="3806190"/>
          </a:xfrm>
          <a:prstGeom prst="straightConnector1">
            <a:avLst/>
          </a:prstGeom>
          <a:noFill/>
          <a:ln cap="flat" cmpd="sng" w="15225">
            <a:solidFill>
              <a:srgbClr val="9BDAD9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28" name="Google Shape;228;p22"/>
          <p:cNvSpPr/>
          <p:nvPr/>
        </p:nvSpPr>
        <p:spPr>
          <a:xfrm>
            <a:off x="274320" y="788670"/>
            <a:ext cx="41833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Why did satisfaction dip in 2023?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31570"/>
            <a:ext cx="4183380" cy="22631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274320" y="3497580"/>
            <a:ext cx="4183380" cy="78867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411480" y="3545586"/>
            <a:ext cx="39090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2023 wait time: 5.9% → 21.1% → directly explains the satisfaction drop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Resolved by 2024 — not a systemic 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800600" y="788670"/>
            <a:ext cx="41148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Engagement is declining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131570"/>
            <a:ext cx="4114800" cy="226314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4800600" y="3497580"/>
            <a:ext cx="4114800" cy="78867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4937760" y="3545586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1-time visitors: 7.4% → 9.0%  ·  10+ visits: 47.7% → 40.3%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clients are not converting — first-visit retention is the leverage point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56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/>
          <p:nvPr/>
        </p:nvSpPr>
        <p:spPr>
          <a:xfrm>
            <a:off x="0" y="0"/>
            <a:ext cx="150876" cy="514350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377190" y="205740"/>
            <a:ext cx="82296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1700"/>
              <a:buFont typeface="Calibri"/>
              <a:buNone/>
            </a:pPr>
            <a:r>
              <a:rPr b="1" lang="zh-CN" sz="17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77190" y="617220"/>
            <a:ext cx="82296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C9"/>
              </a:buClr>
              <a:buSzPts val="1100"/>
              <a:buFont typeface="Calibri"/>
              <a:buNone/>
            </a:pPr>
            <a:r>
              <a:rPr i="1" lang="zh-CN" sz="1100">
                <a:solidFill>
                  <a:srgbClr val="7FA8C9"/>
                </a:solidFill>
                <a:latin typeface="Calibri"/>
                <a:ea typeface="Calibri"/>
                <a:cs typeface="Calibri"/>
                <a:sym typeface="Calibri"/>
              </a:rPr>
              <a:t>Three findings that matter most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74320" y="1062990"/>
            <a:ext cx="617220" cy="99441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274320" y="1213866"/>
            <a:ext cx="6172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2300"/>
              <a:buFont typeface="Calibri"/>
              <a:buNone/>
            </a:pPr>
            <a:r>
              <a:rPr b="1" lang="zh-CN" sz="23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028700" y="1117854"/>
            <a:ext cx="7818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average hides the real 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028700" y="1460754"/>
            <a:ext cx="781812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ED8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A0BED8"/>
                </a:solidFill>
                <a:latin typeface="Calibri"/>
                <a:ea typeface="Calibri"/>
                <a:cs typeface="Calibri"/>
                <a:sym typeface="Calibri"/>
              </a:rPr>
              <a:t>95% Life Better sounds excellent. But Cluster 2 (n=54) shows only 4% say their life improved. A single average conceals that one in twenty clients is getting almost nothing from their visits.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74320" y="2311146"/>
            <a:ext cx="617220" cy="99441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274320" y="2462022"/>
            <a:ext cx="6172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2300"/>
              <a:buFont typeface="Calibri"/>
              <a:buNone/>
            </a:pPr>
            <a:r>
              <a:rPr b="1" lang="zh-CN" sz="23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1028700" y="2366010"/>
            <a:ext cx="7818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Aging and access barriers are the same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1028700" y="2708910"/>
            <a:ext cx="781812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ED8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A0BED8"/>
                </a:solidFill>
                <a:latin typeface="Calibri"/>
                <a:ea typeface="Calibri"/>
                <a:cs typeface="Calibri"/>
                <a:sym typeface="Calibri"/>
              </a:rPr>
              <a:t>The 75+ cohort doubled in 3 years. Transportation barriers grew 3% → 11.6% in the same period. These are not independent trends — they are two sides of the same operational challenge.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274320" y="3559302"/>
            <a:ext cx="617220" cy="99441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274320" y="3710178"/>
            <a:ext cx="6172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2300"/>
              <a:buFont typeface="Calibri"/>
              <a:buNone/>
            </a:pPr>
            <a:r>
              <a:rPr b="1" lang="zh-CN" sz="23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1028700" y="3614166"/>
            <a:ext cx="7818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Frequency is the only lever with statistical proof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1028700" y="3957066"/>
            <a:ext cx="781812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ED8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A0BED8"/>
                </a:solidFill>
                <a:latin typeface="Calibri"/>
                <a:ea typeface="Calibri"/>
                <a:cs typeface="Calibri"/>
                <a:sym typeface="Calibri"/>
              </a:rPr>
              <a:t>Visit Frequency is validated by Decision Tree (importance 0.486) AND Chi-Square (p &lt; 0.001). No other variable survives both tests. Converting first-time visitors into repeat clients is the single highest-ROI action available.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274320" y="822960"/>
            <a:ext cx="8606790" cy="7543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377190" y="946404"/>
            <a:ext cx="480060" cy="480060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377190" y="946404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7955280" y="1014984"/>
            <a:ext cx="754380" cy="32918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7955280" y="1014984"/>
            <a:ext cx="7543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zh-C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960120" y="891540"/>
            <a:ext cx="68580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Design a first-visit follow-up program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960120" y="1179576"/>
            <a:ext cx="68580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Targeted outreach after a client's first visit — asking how it went, suggesting a return — directly addresses the rising 1-time visitor rate (7.4% → 9.0%).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274320" y="1659636"/>
            <a:ext cx="8606790" cy="7543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377190" y="1783080"/>
            <a:ext cx="480060" cy="480060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377190" y="178308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7955280" y="1851660"/>
            <a:ext cx="754380" cy="32918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7955280" y="1851660"/>
            <a:ext cx="7543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zh-C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960120" y="1728216"/>
            <a:ext cx="68580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Investigate Cluster 2 specifically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960120" y="2016252"/>
            <a:ext cx="68580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54 clients with 4% Life Better rate are the Center's highest-priority target. A short survey asking why they didn't return is more valuable than another general survey.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274320" y="2496312"/>
            <a:ext cx="8606790" cy="7543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377190" y="2619756"/>
            <a:ext cx="480060" cy="480060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377190" y="2619756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7955280" y="2688336"/>
            <a:ext cx="754380" cy="32918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7955280" y="2688336"/>
            <a:ext cx="7543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zh-C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960120" y="2564892"/>
            <a:ext cx="68580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Plan ahead for the 75+ population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960120" y="2852928"/>
            <a:ext cx="68580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Transportation barriers grew 3% → 11.6%. Daytime scheduling and transportation partnerships should be addressed now, before the cohort is even larger.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274320" y="3332988"/>
            <a:ext cx="8606790" cy="7543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377190" y="3456432"/>
            <a:ext cx="480060" cy="480060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377190" y="3456432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7955280" y="3525012"/>
            <a:ext cx="754380" cy="32918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7955280" y="3525012"/>
            <a:ext cx="7543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zh-C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960120" y="3401568"/>
            <a:ext cx="68580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Lock the survey schema from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960120" y="3689604"/>
            <a:ext cx="68580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Column positions changed every year, making analysis significantly harder. A stable schema allows this entire pipeline to run automatically on future data.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274320" y="4169664"/>
            <a:ext cx="8606790" cy="7543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377190" y="4293108"/>
            <a:ext cx="480060" cy="480060"/>
          </a:xfrm>
          <a:prstGeom prst="ellipse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377190" y="4293108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55280" y="4361688"/>
            <a:ext cx="754380" cy="32918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7955280" y="4361688"/>
            <a:ext cx="7543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zh-C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960120" y="4238244"/>
            <a:ext cx="68580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000"/>
              <a:buFont typeface="Calibri"/>
              <a:buNone/>
            </a:pPr>
            <a:r>
              <a:rPr b="1" lang="zh-CN" sz="10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Add a unique client ID across years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960120" y="4526280"/>
            <a:ext cx="68580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Currently impossible to track whether the same person improved over time. A longitudinal view would fundamentally change what questions can be answered.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/>
          <p:nvPr/>
        </p:nvSpPr>
        <p:spPr>
          <a:xfrm>
            <a:off x="0" y="0"/>
            <a:ext cx="9141714" cy="7200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0" y="0"/>
            <a:ext cx="192024" cy="72009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342900" y="54864"/>
            <a:ext cx="85725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zh-C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274320" y="85725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274320" y="857250"/>
            <a:ext cx="96012" cy="17487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466344" y="980694"/>
            <a:ext cx="39090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Self-selection bias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466344" y="1303020"/>
            <a:ext cx="390906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Survey completed only by clients who visited. Clients who came once and never returned are absent. Satisfaction and NPS figures likely overestimate the full population.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4697730" y="85725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4697730" y="857250"/>
            <a:ext cx="96012" cy="17487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4889754" y="980694"/>
            <a:ext cx="39090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Binary service encoding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4889754" y="1303020"/>
            <a:ext cx="390906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Service usage is coded used / not used. Session count was unavailable. A client with 1 session and one with 12 sessions are coded identically — dose-response cannot be analyzed.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274320" y="281178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274320" y="2811780"/>
            <a:ext cx="96012" cy="17487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66344" y="2935224"/>
            <a:ext cx="39090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Class imbalance in classification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466344" y="3257550"/>
            <a:ext cx="390906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89.2% of respondents are high satisfaction. The Decision Tree struggles to identify low-satisfaction clients (recall = 0.43). Frequency findings are robust, but individual predictions are not.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4697730" y="2811780"/>
            <a:ext cx="4183380" cy="174879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4697730" y="2811780"/>
            <a:ext cx="96012" cy="1748790"/>
          </a:xfrm>
          <a:prstGeom prst="rect">
            <a:avLst/>
          </a:prstGeom>
          <a:solidFill>
            <a:srgbClr val="002856"/>
          </a:solidFill>
          <a:ln cap="flat" cmpd="sng" w="12700">
            <a:solidFill>
              <a:srgbClr val="002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"/>
          <p:cNvSpPr/>
          <p:nvPr/>
        </p:nvSpPr>
        <p:spPr>
          <a:xfrm>
            <a:off x="4889754" y="2935224"/>
            <a:ext cx="390906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No unique client ID across years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4889754" y="3257550"/>
            <a:ext cx="390906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Respondents cannot be tracked across years. All cross-year comparisons are population-level, not individual trajectories. Whether the same person improved over time is unknown.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56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/>
          <p:nvPr/>
        </p:nvSpPr>
        <p:spPr>
          <a:xfrm>
            <a:off x="0" y="0"/>
            <a:ext cx="150900" cy="514350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377190" y="205740"/>
            <a:ext cx="82296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1700"/>
              <a:buFont typeface="Calibri"/>
              <a:buNone/>
            </a:pPr>
            <a:r>
              <a:rPr b="1" lang="zh-CN" sz="17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377190" y="617220"/>
            <a:ext cx="8229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C9"/>
              </a:buClr>
              <a:buSzPts val="1100"/>
              <a:buFont typeface="Calibri"/>
              <a:buNone/>
            </a:pPr>
            <a:r>
              <a:rPr i="1" lang="zh-CN" sz="1100">
                <a:solidFill>
                  <a:srgbClr val="7FA8C9"/>
                </a:solidFill>
                <a:latin typeface="Calibri"/>
                <a:ea typeface="Calibri"/>
                <a:cs typeface="Calibri"/>
                <a:sym typeface="Calibri"/>
              </a:rPr>
              <a:t>Move from descriptive analysis to predictive and actionable decision-making.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274320" y="1062990"/>
            <a:ext cx="617100" cy="99450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274320" y="1213866"/>
            <a:ext cx="617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2300"/>
              <a:buFont typeface="Calibri"/>
              <a:buNone/>
            </a:pPr>
            <a:r>
              <a:rPr b="1" lang="zh-CN" sz="23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1028700" y="1117854"/>
            <a:ext cx="781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Client Retention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1028700" y="1460754"/>
            <a:ext cx="7818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ED8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A0BED8"/>
                </a:solidFill>
                <a:latin typeface="Calibri"/>
                <a:ea typeface="Calibri"/>
                <a:cs typeface="Calibri"/>
                <a:sym typeface="Calibri"/>
              </a:rPr>
              <a:t>Identify first-time visitors unlikely to return and improve engagement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274320" y="2311146"/>
            <a:ext cx="617100" cy="99450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274320" y="2462022"/>
            <a:ext cx="617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2300"/>
              <a:buFont typeface="Calibri"/>
              <a:buNone/>
            </a:pPr>
            <a:r>
              <a:rPr b="1" lang="zh-CN" sz="23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1028700" y="2366010"/>
            <a:ext cx="781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 Longitudinal Tracking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1028700" y="2708910"/>
            <a:ext cx="7818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ED8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A0BED8"/>
                </a:solidFill>
                <a:latin typeface="Calibri"/>
                <a:ea typeface="Calibri"/>
                <a:cs typeface="Calibri"/>
                <a:sym typeface="Calibri"/>
              </a:rPr>
              <a:t>Track individual client progress across years with unique IDs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274320" y="3559302"/>
            <a:ext cx="617100" cy="99450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6"/>
          <p:cNvSpPr/>
          <p:nvPr/>
        </p:nvSpPr>
        <p:spPr>
          <a:xfrm>
            <a:off x="274320" y="3710178"/>
            <a:ext cx="617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2300"/>
              <a:buFont typeface="Calibri"/>
              <a:buNone/>
            </a:pPr>
            <a:r>
              <a:rPr b="1" lang="zh-CN" sz="2300">
                <a:solidFill>
                  <a:srgbClr val="00285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1028700" y="3614166"/>
            <a:ext cx="781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zh-C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Targeted Interventions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1028700" y="3957066"/>
            <a:ext cx="7818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ED8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A0BED8"/>
                </a:solidFill>
                <a:latin typeface="Calibri"/>
                <a:ea typeface="Calibri"/>
                <a:cs typeface="Calibri"/>
                <a:sym typeface="Calibri"/>
              </a:rPr>
              <a:t>Use A/B testing to evaluate follow-up programs and outreach strategies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56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/>
          <p:nvPr/>
        </p:nvSpPr>
        <p:spPr>
          <a:xfrm>
            <a:off x="0" y="0"/>
            <a:ext cx="150876" cy="5143500"/>
          </a:xfrm>
          <a:prstGeom prst="rect">
            <a:avLst/>
          </a:prstGeom>
          <a:solidFill>
            <a:srgbClr val="9BDAD9"/>
          </a:solidFill>
          <a:ln cap="flat" cmpd="sng" w="12700">
            <a:solidFill>
              <a:srgbClr val="9BD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6995160" y="-1234440"/>
            <a:ext cx="2880360" cy="2880360"/>
          </a:xfrm>
          <a:prstGeom prst="ellipse">
            <a:avLst/>
          </a:prstGeom>
          <a:solidFill>
            <a:srgbClr val="9BDAD9">
              <a:alpha val="16862"/>
            </a:srgbClr>
          </a:solidFill>
          <a:ln cap="flat" cmpd="sng" w="12700">
            <a:solidFill>
              <a:srgbClr val="9BDAD9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7"/>
          <p:cNvSpPr/>
          <p:nvPr/>
        </p:nvSpPr>
        <p:spPr>
          <a:xfrm>
            <a:off x="-685800" y="3566160"/>
            <a:ext cx="2400300" cy="2400300"/>
          </a:xfrm>
          <a:prstGeom prst="ellipse">
            <a:avLst/>
          </a:prstGeom>
          <a:solidFill>
            <a:srgbClr val="9BDAD9">
              <a:alpha val="12156"/>
            </a:srgbClr>
          </a:solidFill>
          <a:ln cap="flat" cmpd="sng" w="12700">
            <a:solidFill>
              <a:srgbClr val="9BDAD9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"/>
          <p:cNvSpPr/>
          <p:nvPr/>
        </p:nvSpPr>
        <p:spPr>
          <a:xfrm>
            <a:off x="445770" y="617220"/>
            <a:ext cx="68580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libri"/>
              <a:buNone/>
            </a:pPr>
            <a:r>
              <a:rPr b="1" lang="zh-CN" sz="3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445770" y="137160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DAD9"/>
              </a:buClr>
              <a:buSzPts val="1400"/>
              <a:buFont typeface="Calibri"/>
              <a:buNone/>
            </a:pPr>
            <a:r>
              <a:rPr lang="zh-CN" sz="1400">
                <a:solidFill>
                  <a:srgbClr val="9BDAD9"/>
                </a:solidFill>
                <a:latin typeface="Calibri"/>
                <a:ea typeface="Calibri"/>
                <a:cs typeface="Calibri"/>
                <a:sym typeface="Calibri"/>
              </a:rPr>
              <a:t>Behind the 95%: Who Is the Dempsey Center Really Reaching?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445770" y="1885950"/>
            <a:ext cx="6515100" cy="34290"/>
          </a:xfrm>
          <a:prstGeom prst="rect">
            <a:avLst/>
          </a:prstGeom>
          <a:solidFill>
            <a:srgbClr val="9BDAD9">
              <a:alpha val="54901"/>
            </a:srgbClr>
          </a:solidFill>
          <a:ln cap="flat" cmpd="sng" w="12700">
            <a:solidFill>
              <a:srgbClr val="9BDAD9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445770" y="2057400"/>
            <a:ext cx="2640330" cy="1165860"/>
          </a:xfrm>
          <a:prstGeom prst="rect">
            <a:avLst/>
          </a:prstGeom>
          <a:solidFill>
            <a:srgbClr val="9BDAD9">
              <a:alpha val="16862"/>
            </a:srgbClr>
          </a:solidFill>
          <a:ln cap="flat" cmpd="sng" w="12700">
            <a:solidFill>
              <a:srgbClr val="9BDA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514350" y="2125980"/>
            <a:ext cx="250317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zh-C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 Frequency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514350" y="2592324"/>
            <a:ext cx="250317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#1 predictor — importance 0.486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3257550" y="2057400"/>
            <a:ext cx="2640330" cy="1165860"/>
          </a:xfrm>
          <a:prstGeom prst="rect">
            <a:avLst/>
          </a:prstGeom>
          <a:solidFill>
            <a:srgbClr val="9BDAD9">
              <a:alpha val="16862"/>
            </a:srgbClr>
          </a:solidFill>
          <a:ln cap="flat" cmpd="sng" w="12700">
            <a:solidFill>
              <a:srgbClr val="9BDA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7"/>
          <p:cNvSpPr/>
          <p:nvPr/>
        </p:nvSpPr>
        <p:spPr>
          <a:xfrm>
            <a:off x="3326130" y="2125980"/>
            <a:ext cx="250317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zh-C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&lt; 0.001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3326130" y="2592324"/>
            <a:ext cx="250317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Chi-Square significance confirmed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6069330" y="2057400"/>
            <a:ext cx="2640330" cy="1165860"/>
          </a:xfrm>
          <a:prstGeom prst="rect">
            <a:avLst/>
          </a:prstGeom>
          <a:solidFill>
            <a:srgbClr val="9BDAD9">
              <a:alpha val="16862"/>
            </a:srgbClr>
          </a:solidFill>
          <a:ln cap="flat" cmpd="sng" w="12700">
            <a:solidFill>
              <a:srgbClr val="9BDA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6137910" y="2125980"/>
            <a:ext cx="250317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zh-C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54 clients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6137910" y="2592324"/>
            <a:ext cx="250317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F1F0"/>
              </a:buClr>
              <a:buSzPts val="800"/>
              <a:buFont typeface="Calibri"/>
              <a:buNone/>
            </a:pPr>
            <a:r>
              <a:rPr lang="zh-CN" sz="800">
                <a:solidFill>
                  <a:srgbClr val="DBF1F0"/>
                </a:solidFill>
                <a:latin typeface="Calibri"/>
                <a:ea typeface="Calibri"/>
                <a:cs typeface="Calibri"/>
                <a:sym typeface="Calibri"/>
              </a:rPr>
              <a:t>Priority group — only 4% Life Better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445770" y="3429000"/>
            <a:ext cx="68580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C9"/>
              </a:buClr>
              <a:buSzPts val="1000"/>
              <a:buFont typeface="Calibri"/>
              <a:buNone/>
            </a:pPr>
            <a:r>
              <a:rPr lang="zh-CN" sz="1000">
                <a:solidFill>
                  <a:srgbClr val="7FA8C9"/>
                </a:solidFill>
                <a:latin typeface="Calibri"/>
                <a:ea typeface="Calibri"/>
                <a:cs typeface="Calibri"/>
                <a:sym typeface="Calibri"/>
              </a:rPr>
              <a:t>GitHub: github.com/Chihiro1998/CS5800_FinalProject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445770" y="373761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900"/>
              <a:buFont typeface="Calibri"/>
              <a:buNone/>
            </a:pPr>
            <a:r>
              <a:rPr lang="zh-CN" sz="900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CS5800 Foundation of AI  ·  Northeastern University  · 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